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34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D3436"/>
                </a:solidFill>
                <a:latin typeface="Arial"/>
              </a:rPr>
              <a:t>TOP 5 카테고리 (건수)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D455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금융/은행</c:v>
                  </c:pt>
                  <c:pt idx="1">
                    <c:v>키오스크</c:v>
                  </c:pt>
                  <c:pt idx="2">
                    <c:v>스마트폰</c:v>
                  </c:pt>
                  <c:pt idx="3">
                    <c:v>보이스피싱</c:v>
                  </c:pt>
                  <c:pt idx="4">
                    <c:v>배달앱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</c:v>
                </c:pt>
                <c:pt idx="1">
                  <c:v>198</c:v>
                </c:pt>
                <c:pt idx="2">
                  <c:v>187</c:v>
                </c:pt>
                <c:pt idx="3">
                  <c:v>156</c:v>
                </c:pt>
                <c:pt idx="4">
                  <c:v>143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WTP (만원)</c:v>
                </c:pt>
              </c:strCache>
            </c:strRef>
          </c:tx>
          <c:spPr>
            <a:solidFill>
              <a:srgbClr val="D455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보안</c:v>
                  </c:pt>
                  <c:pt idx="1">
                    <c:v>금융</c:v>
                  </c:pt>
                  <c:pt idx="2">
                    <c:v>스마트폰</c:v>
                  </c:pt>
                  <c:pt idx="3">
                    <c:v>의료</c:v>
                  </c:pt>
                  <c:pt idx="4">
                    <c:v>IoT</c:v>
                  </c:pt>
                  <c:pt idx="5">
                    <c:v>키오스크</c:v>
                  </c:pt>
                  <c:pt idx="6">
                    <c:v>배달</c:v>
                  </c:pt>
                  <c:pt idx="7">
                    <c:v>교통</c:v>
                  </c:pt>
                  <c:pt idx="8">
                    <c:v>관공서</c:v>
                  </c:pt>
                  <c:pt idx="9">
                    <c:v>쇼핑</c:v>
                  </c:pt>
                  <c:pt idx="10">
                    <c:v>충전</c:v>
                  </c:pt>
                  <c:pt idx="11">
                    <c:v>지원금</c:v>
                  </c:pt>
                  <c:pt idx="12">
                    <c:v>여행</c:v>
                  </c:pt>
                  <c:pt idx="13">
                    <c:v>문서</c:v>
                  </c:pt>
                  <c:pt idx="14">
                    <c:v>SNS</c:v>
                  </c:pt>
                  <c:pt idx="15">
                    <c:v>OTT</c:v>
                  </c:pt>
                  <c:pt idx="16">
                    <c:v>중고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</c:v>
                </c:pt>
                <c:pt idx="1">
                  <c:v>2.5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  <c:pt idx="12">
                  <c:v>1.5</c:v>
                </c:pt>
                <c:pt idx="13">
                  <c:v>1.5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D3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436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436"/>
                </a:solidFill>
                <a:latin typeface="Arial"/>
              </a:rPr>
              <a:t>보수적 시나리오 (만원)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매출</c:v>
                </c:pt>
              </c:strCache>
            </c:strRef>
          </c:tx>
          <c:spPr>
            <a:solidFill>
              <a:srgbClr val="D455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1개월</c:v>
                  </c:pt>
                  <c:pt idx="1">
                    <c:v>3개월</c:v>
                  </c:pt>
                  <c:pt idx="2">
                    <c:v>6개월</c:v>
                  </c:pt>
                  <c:pt idx="3">
                    <c:v>12개월</c:v>
                  </c:pt>
                  <c:pt idx="4">
                    <c:v>24개월</c:v>
                  </c:pt>
                  <c:pt idx="5">
                    <c:v>36개월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125</c:v>
                </c:pt>
                <c:pt idx="2">
                  <c:v>375</c:v>
                </c:pt>
                <c:pt idx="3">
                  <c:v>1250</c:v>
                </c:pt>
                <c:pt idx="4">
                  <c:v>5000</c:v>
                </c:pt>
                <c:pt idx="5">
                  <c:v>12500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월 이익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1개월</c:v>
                  </c:pt>
                  <c:pt idx="1">
                    <c:v>3개월</c:v>
                  </c:pt>
                  <c:pt idx="2">
                    <c:v>6개월</c:v>
                  </c:pt>
                  <c:pt idx="3">
                    <c:v>12개월</c:v>
                  </c:pt>
                  <c:pt idx="4">
                    <c:v>24개월</c:v>
                  </c:pt>
                  <c:pt idx="5">
                    <c:v>36개월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45</c:v>
                </c:pt>
                <c:pt idx="2">
                  <c:v>175</c:v>
                </c:pt>
                <c:pt idx="3">
                  <c:v>642</c:v>
                </c:pt>
                <c:pt idx="4">
                  <c:v>3200</c:v>
                </c:pt>
                <c:pt idx="5">
                  <c:v>9525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4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828800" cy="54864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디지털 집사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Butler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중장년 디지털 생활 도우미 서비스 — 사업계획서 v2.0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194560" cy="914400"/>
          </a:xfrm>
          <a:prstGeom prst="rect">
            <a:avLst/>
          </a:prstGeom>
          <a:solidFill>
            <a:srgbClr val="2A3A4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2,017건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840480"/>
            <a:ext cx="2194560" cy="914400"/>
          </a:xfrm>
          <a:prstGeom prst="rect">
            <a:avLst/>
          </a:prstGeom>
          <a:solidFill>
            <a:srgbClr val="2A3A4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87/100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확률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3840480"/>
            <a:ext cx="2194560" cy="914400"/>
          </a:xfrm>
          <a:prstGeom prst="rect">
            <a:avLst/>
          </a:prstGeom>
          <a:solidFill>
            <a:srgbClr val="2A3A4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44/50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5216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타당성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4572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지금인가?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D455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초고령사회 진입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2025년, 65세+ 1,084만 명 (21.2%)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D9CDB"/>
          </a:solidFill>
          <a:ln/>
        </p:spPr>
      </p:sp>
      <p:sp>
        <p:nvSpPr>
          <p:cNvPr id="12" name="Shape 9"/>
          <p:cNvSpPr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48132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2.4배 폭증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2019년 19만대 → 2022년 45만대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4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8132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665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디지털포용법 시행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1월, 정부가 뒷받침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017520"/>
            <a:ext cx="25603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Shape 19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1012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비용 급감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9436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건당 420원, 자동화 가능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91840" y="301752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Shape 24"/>
          <p:cNvSpPr/>
          <p:nvPr/>
        </p:nvSpPr>
        <p:spPr>
          <a:xfrm>
            <a:off x="3429000" y="324612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31012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역량 최하위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4290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고령층 일반인 대비 71.4%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26480" y="3017520"/>
            <a:ext cx="256032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6" name="Shape 29"/>
          <p:cNvSpPr/>
          <p:nvPr/>
        </p:nvSpPr>
        <p:spPr>
          <a:xfrm>
            <a:off x="6263640" y="3246120"/>
            <a:ext cx="411480" cy="41148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10128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경쟁자 없음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6364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"해결"하는 서비스 전무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시장 규모 — TAM / SAM / SOM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840480"/>
          </a:xfrm>
          <a:prstGeom prst="ellipse">
            <a:avLst/>
          </a:prstGeom>
          <a:solidFill>
            <a:srgbClr val="D4551B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828800"/>
            <a:ext cx="2377440" cy="2377440"/>
          </a:xfrm>
          <a:prstGeom prst="ellipse">
            <a:avLst/>
          </a:prstGeom>
          <a:solidFill>
            <a:srgbClr val="D4551B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2377440"/>
            <a:ext cx="1280160" cy="1280160"/>
          </a:xfrm>
          <a:prstGeom prst="ellipse">
            <a:avLst/>
          </a:prstGeom>
          <a:solidFill>
            <a:srgbClr val="D4551B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377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4,800억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4.8조원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88720"/>
            <a:ext cx="73152" cy="10058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(전체 시장)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4.8조원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0" y="1847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50세+ 2,300만명 × 월 17,400원 WTP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423160"/>
            <a:ext cx="73152" cy="10058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(접근 가능)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4,800억원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소외 체감자 460만명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36576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657600"/>
            <a:ext cx="73152" cy="10058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(초기 목표)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48억원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20640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SAM의 1% 침투 (~46,000명)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고객 분석 — 2,017건 실제 데이터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09728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1097280"/>
            <a:ext cx="54864" cy="7772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눈치형 (40%)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실수할까봐 두려움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0" y="20574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2057400"/>
            <a:ext cx="54864" cy="7772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1" name="Text 8"/>
          <p:cNvSpPr/>
          <p:nvPr/>
        </p:nvSpPr>
        <p:spPr>
          <a:xfrm>
            <a:off x="530352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귀찮음형 (25%)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세팅만 대신해줘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301752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3017520"/>
            <a:ext cx="54864" cy="7772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모름형 (20%)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배워도 소용없다 느낌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0" y="397764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3977640"/>
            <a:ext cx="54864" cy="77724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9" name="Text 16"/>
          <p:cNvSpPr/>
          <p:nvPr/>
        </p:nvSpPr>
        <p:spPr>
          <a:xfrm>
            <a:off x="530352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불안형 (15%)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0352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피싱 당할까봐 안 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17개 서비스 카테고리 × WTP 분석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39776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발견: 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"안전"에 대한 WTP(30,000원)가 "편의"보다 2~3배 높음 → 보안 서비스를 프리미엄 차별화 포인트로 활용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설계 — "해결"하는 서비스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743200" cy="1051560"/>
          </a:xfrm>
          <a:prstGeom prst="rect">
            <a:avLst/>
          </a:prstGeom>
          <a:solidFill>
            <a:srgbClr val="2D9CD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배워볼래?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1분 영상, 월간 성취 리포트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2468880"/>
            <a:ext cx="4572000" cy="105156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같이 할게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공유, 실시간 안내, 영상통화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6400800" cy="1051560"/>
          </a:xfrm>
          <a:prstGeom prst="rect">
            <a:avLst/>
          </a:prstGeom>
          <a:solidFill>
            <a:srgbClr val="D455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3794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대신 해줄게  ← 대부분 여기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카톡/전화 한 마디면 즉시 해결 (AI 70% + 인간 30%)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"가르치는 서비스"가 아니라 "해결하는 서비스" — 해결하면서 자연스럽게 배우게 되는 구조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가족 연결 서비스 + 멀티 채널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차별점: 가족 연결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자녀 (2040세대)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구독 선물 결제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성취 알림 수신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긴급 보안 알림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부모님 (5060세대)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카톡: "집사야, 주문해줘"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AI가 즉시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인간 상담원 에스컬레이션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접근 채널 — 앱 설치 불필요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830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 — 채널 추가 한 번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402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(080 무료) — 전화번호 한 번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6974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2670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웹앱 — 홈 화면 바로가기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대리 요청 — 자녀가 대신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61188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방문 — 직접 찾아감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20" name="Text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효도 마케팅 → 2040세대까지 고객 확장 + 바이럴 성장 엔진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구조 — AI + 인간 하이브리드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2D9C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075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상담원 (1차 처리)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70~85% 자동 해결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주문/예약/정보 안내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판별 (피싱 탐지)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자동 응답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420~700원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D4551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075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상담원 (2차 처리)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15~30% 에스컬레이션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금융/보안 업무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정서적 지원/감정 케어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공유/방문 서비스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1,000~1,500원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008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엔진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2860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음성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28600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AI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93192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9319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API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57784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웹앱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5778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PWA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2376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22376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토스페이먼츠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7가지 비즈니스 모델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65960" cy="54864"/>
          </a:xfrm>
          <a:prstGeom prst="rect">
            <a:avLst/>
          </a:prstGeom>
          <a:solidFill>
            <a:srgbClr val="D455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344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10,000원 선불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차감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68880" y="1097280"/>
            <a:ext cx="1965960" cy="54864"/>
          </a:xfrm>
          <a:prstGeom prst="rect">
            <a:avLst/>
          </a:prstGeom>
          <a:solidFill>
            <a:srgbClr val="D4551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344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월정액 구독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19,900~49,900원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모델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75488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건당 과금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500원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1,500원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858000" y="109728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94944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프리미엄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94944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99,000원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방문+VIP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74320" y="30175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" y="3017520"/>
            <a:ext cx="1965960" cy="54864"/>
          </a:xfrm>
          <a:prstGeom prst="rect">
            <a:avLst/>
          </a:prstGeom>
          <a:solidFill>
            <a:srgbClr val="D4551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5468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576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6576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복지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보험사 연계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468880" y="30175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256032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하이브리드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256032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구독+건당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+방문 결합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63440" y="3017520"/>
            <a:ext cx="1965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75488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수수료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754880" y="3611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QR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업체 과금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74320" y="4251960"/>
            <a:ext cx="8595360" cy="731520"/>
          </a:xfrm>
          <a:prstGeom prst="rect">
            <a:avLst/>
          </a:prstGeom>
          <a:solidFill>
            <a:srgbClr val="D4551B">
              <a:alpha val="9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구독 플랜: 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라이트 19,900원 (월 10회) | 스탠다드 34,900원 (무제한) | 패밀리 49,900원 (가족 연동)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재무 시뮬레이션 — 3년 전망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024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 (MVP)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60720" y="15361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고정비 3만원 → 즉시 달성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77840" y="196596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1984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손익분기 (성장)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300명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60720" y="2496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6~9개월 예상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92608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50:1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60720" y="34564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 건강 (3:1 이상 양호)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7840" y="3886200"/>
            <a:ext cx="3291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60720" y="3904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누적 이익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607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55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15.9억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60720" y="4416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 시나리오 기준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4206240"/>
            <a:ext cx="8595360" cy="731520"/>
          </a:xfrm>
          <a:prstGeom prst="rect">
            <a:avLst/>
          </a:prstGeom>
          <a:solidFill>
            <a:srgbClr val="27AE60">
              <a:alpha val="9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초기 비용: 0원 </a:t>
            </a:r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(카카오톡 채널 무료 + 본인 운영) → 최대 손실 18만원 (6개월 × 3만원)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 분석 — Porter's 5 Forces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1371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2103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강도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3280" y="1005840"/>
            <a:ext cx="2377440" cy="64008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005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진입 위협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solidFill>
            <a:srgbClr val="2D9CDB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공급자 교섭력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구매자 교섭력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2377440" cy="7315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대체재 위협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"해결해주는" 서비스는 시장 공백 — 지금이 선점 적기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글로벌 벤치마크 — 7개 성공 사례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64592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Candoo Tech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 1:1 기술 지원, 월 $49~99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시니어 특화 포지셔닝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54864" cy="164592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시니어+청년 매칭, B2B2C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보험사 제휴 모델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54864" cy="164592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463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태블릿+서비스 번들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가족 연결 기능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54864" cy="164592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스웨덴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700명 대체 → 재고용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AI만으로는 부족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017520"/>
            <a:ext cx="54864" cy="164592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케어콜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5만명, 만족도 95%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290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시니어+AI 검증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54864" cy="164592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도코모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원격 지원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통신사 번들 모델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 로드맵 — 0원 MVP → 글로벌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3810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636E7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0원 MVP 준비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카톡 채널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080 전화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매뉴얼 작성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331720"/>
            <a:ext cx="457200" cy="457200"/>
          </a:xfrm>
          <a:prstGeom prst="ellipse">
            <a:avLst/>
          </a:prstGeom>
          <a:solidFill>
            <a:srgbClr val="2D9CD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1~3개월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10~50명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운영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30,000원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4~6개월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100~300명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웹앱 MVP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D4551B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7~12개월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앱 출시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500~1,000명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정식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시작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72400" y="2331720"/>
            <a:ext cx="457200" cy="457200"/>
          </a:xfrm>
          <a:prstGeom prst="ellipse">
            <a:avLst/>
          </a:prstGeom>
          <a:solidFill>
            <a:srgbClr val="D4551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1371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13~24개월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23760" y="1645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확장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23760" y="30175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2,000~5,000명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통신사 제휴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플랫폼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553712"/>
            <a:ext cx="320040" cy="320040"/>
          </a:xfrm>
          <a:prstGeom prst="ellipse">
            <a:avLst/>
          </a:prstGeom>
          <a:solidFill>
            <a:srgbClr val="D4551B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4590288"/>
            <a:ext cx="246888" cy="24688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09728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(25~36개월): 글로벌 — 일본 (101조엔) / 대만 / 동남아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검증 결과 — 성공 확률 87/100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743200" cy="2743200"/>
          </a:xfrm>
          <a:prstGeom prst="ellipse">
            <a:avLst/>
          </a:prstGeom>
          <a:solidFill>
            <a:srgbClr val="D4551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Problem-Market 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955280" y="1097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1389888"/>
            <a:ext cx="4846320" cy="1371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1389888"/>
            <a:ext cx="4604004" cy="1371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Solution-Product Fit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0" y="1691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34/40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984248"/>
            <a:ext cx="4846320" cy="1371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1984248"/>
            <a:ext cx="4119372" cy="1371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Fit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55280" y="2286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578608"/>
            <a:ext cx="4846320" cy="1371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2578608"/>
            <a:ext cx="4216298" cy="1371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Feasibility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3172968"/>
            <a:ext cx="4846320" cy="1371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0" y="3172968"/>
            <a:ext cx="4700930" cy="1371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55280" y="3474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767328"/>
            <a:ext cx="4846320" cy="1371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0" y="3767328"/>
            <a:ext cx="4507078" cy="1371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Fit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55280" y="4069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5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4361688"/>
            <a:ext cx="4846320" cy="1371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Shape 28"/>
          <p:cNvSpPr/>
          <p:nvPr/>
        </p:nvSpPr>
        <p:spPr>
          <a:xfrm>
            <a:off x="3840480" y="4361688"/>
            <a:ext cx="3731666" cy="13716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기회 + 실행 용이성 + 타이밍 = 모두 "지금 여기"를 가리킴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"기술 지원"을 파는 것이 아니라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"존엄성"을 파는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743200" cy="54864"/>
          </a:xfrm>
          <a:prstGeom prst="rect">
            <a:avLst/>
          </a:prstGeom>
          <a:solidFill>
            <a:srgbClr val="D4551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176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고통이 진짜다 — 2,017건 실제 데이터, 17개 카테고리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420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5237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돈이 된다 — TAM 4.8조, WTP 평균 17,400원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950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8712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경쟁이 없다 — "해결"하는 서비스 전무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36976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시작이 쉽다 — 0원 MVP, 내일 당장 시작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8444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이탈이 어렵다 — 신뢰 + 가족 연결 이중 락인</a:t>
            </a:r>
            <a:endParaRPr lang="en-US" sz="1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3192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정책이 밀어준다 — 디지털포용법 2026.01 시행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79392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51560" y="42611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글로벌로 간다 — 일본 101조엔, AARP $945억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D4551B"/>
          </a:solidFill>
          <a:ln/>
        </p:spPr>
      </p:sp>
      <p:sp>
        <p:nvSpPr>
          <p:cNvPr id="20" name="Text 1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랜딩 페이지 + 가족 웹앱 + 카카오톡 AI 챗봇 개발 시작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디지털 집사 사업계획서 v2</dc:title>
  <dc:subject>PptxGenJS Presentation</dc:subject>
  <dc:creator>디지털 집사</dc:creator>
  <cp:lastModifiedBy>디지털 집사</cp:lastModifiedBy>
  <cp:revision>1</cp:revision>
  <dcterms:created xsi:type="dcterms:W3CDTF">2026-03-27T02:28:45Z</dcterms:created>
  <dcterms:modified xsi:type="dcterms:W3CDTF">2026-03-27T02:28:45Z</dcterms:modified>
</cp:coreProperties>
</file>