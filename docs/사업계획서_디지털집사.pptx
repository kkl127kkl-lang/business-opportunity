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디지털 집사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Butler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286000" cy="27432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926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중장년 디지털 생활 도우미 서비스 사업계획서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2026.03  |  타당성 점수 44/50  |  v1.0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집사 — 사업계획서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한 줄 요약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A2744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463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스마트폰과 키오스크가 어려운 5060세대를 위해, AI + 인간 상담원이 디지털 문제를 즉시 해결해주는 월 구독 서비스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8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2,300만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94360" y="3200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타겟 시장 (50세+)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48840" y="246888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86000" y="2606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8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19,900원~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286000" y="3200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구독료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0" y="246888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977640" y="2606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100만원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977640" y="3200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자본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32120" y="246888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69280" y="2606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70~85%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669280" y="3200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처리율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23760" y="246888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60920" y="2606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300명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360920" y="3200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손익분기점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지금인가?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160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초고령사회 진입 (65세+ 1,084만 명)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키오스크 3년간 2.4배 폭증 (45만 대)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디지털포용법 2026.01 시행 → 사업 기회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경쟁자 거의 없음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4160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"가르치는 서비스"는 많다. </a:t>
            </a:r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"해결하는 서비스"는 없다.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집사 — 사업계획서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분석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거대한 시장, 검증된 소비력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시장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50세 이상 인구: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2,300만 명 (45%)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65세 이상: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1,084만 명 (21.2%)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키오스크: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45만 대 (3년간 2.4배)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역량: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국민의 71.4%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3E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291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인사이트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50대 평균 자산 6.1억 (전 연령대 1위)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60대 소비 증가율 +63.1% (최고)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60대 카드 결제 139.5조원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시장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9202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65세+ 전 세계: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8.6억 명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2050년 전망: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15.8억 명 (2배)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시니어 테크 시장: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$46.2억 (2025)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시니어 케어 기술: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$1,016억 (2034)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일본 실버산업: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101.3조 엔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324612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EBF5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74920" y="3291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 환경 (우호적)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디지털포용법 (2026.01)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일본 고령사회 대책 24조 엔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Digital Europe 263억 유로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집사 — 사업계획서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분석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393건 실제 고객 목소리가 말해주는 것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1A274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금융/은행  167건 (42%)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58768" y="1417320"/>
            <a:ext cx="1737360" cy="594360"/>
          </a:xfrm>
          <a:prstGeom prst="roundRect">
            <a:avLst>
              <a:gd name="adj" fmla="val 7692"/>
            </a:avLst>
          </a:prstGeom>
          <a:solidFill>
            <a:srgbClr val="FF8C42"/>
          </a:solidFill>
          <a:ln/>
        </p:spPr>
      </p:sp>
      <p:sp>
        <p:nvSpPr>
          <p:cNvPr id="10" name="Text 8"/>
          <p:cNvSpPr/>
          <p:nvPr/>
        </p:nvSpPr>
        <p:spPr>
          <a:xfrm>
            <a:off x="3950208" y="1463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키오스크  88건 (22%)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05856" y="1417320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5797296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스마트폰/앱  84건 (21%)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61504" y="1417320"/>
            <a:ext cx="1325880" cy="594360"/>
          </a:xfrm>
          <a:prstGeom prst="roundRect">
            <a:avLst>
              <a:gd name="adj" fmla="val 7692"/>
            </a:avLst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52944" y="146304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보이스피싱  67건 (17%)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51560" y="2377440"/>
            <a:ext cx="640080" cy="64008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063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눈치형 (40%)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3375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창피함 + 불안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6576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"뒷사람 눈치 보여서..."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78608" y="228600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2377440"/>
            <a:ext cx="640080" cy="6400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3" name="Text 21"/>
          <p:cNvSpPr/>
          <p:nvPr/>
        </p:nvSpPr>
        <p:spPr>
          <a:xfrm>
            <a:off x="3172968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670048" y="3063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귀찮음형 (25%)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70048" y="33375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번거로움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70048" y="36576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"할 줄은 아는데 귀찮아"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0016" y="228600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294376" y="237744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9" name="Text 27"/>
          <p:cNvSpPr/>
          <p:nvPr/>
        </p:nvSpPr>
        <p:spPr>
          <a:xfrm>
            <a:off x="5294376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791456" y="3063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모름형 (20%)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91456" y="33375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포기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91456" y="36576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"앱마다 다 달라서..."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21424" y="228600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415784" y="2377440"/>
            <a:ext cx="640080" cy="6400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35" name="Text 33"/>
          <p:cNvSpPr/>
          <p:nvPr/>
        </p:nvSpPr>
        <p:spPr>
          <a:xfrm>
            <a:off x="7415784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912864" y="3063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불안형 (15%)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12864" y="33375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불신 + 공포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12864" y="36576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"사기당할까봐 안 써"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집사 — 사업계획서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분석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이 문제가 아직 해결되지 않았는가?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57200" cy="45720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417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"가르치는 것"과 "해결하는 것"의 혼동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14173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기존 서비스가 교육만 제공.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고객이 원하는 건 "대신 해줘"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457200" cy="45720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057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대기업의 시니어 시장 무시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057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"돈 안 되는 시장"이라는 편견.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실제: 50대 자산 6.1억 (전 연령대 1위)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457200" cy="45720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697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수요자가 검색을 못 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26974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서비스가 필요한 사람이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디지털로 그 서비스를 찾을 수 없는 역설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457200" cy="45720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337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 장벽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33375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"모르는 사람에게 내 폰을 맡긴다고?"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보이스피싱 불안 67건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457200" cy="45720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3977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대안의 불완전성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0" y="3977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시니어폰 = 기능 제한만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 디지털배움터 = 예산 60% 삭감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설계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"해결하는 서비스"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가르치는 게 아니라, 해결하면서 자연스럽게 배우는 구조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1920240"/>
            <a:ext cx="4114800" cy="822960"/>
          </a:xfrm>
          <a:prstGeom prst="roundRect">
            <a:avLst>
              <a:gd name="adj" fmla="val 6667"/>
            </a:avLst>
          </a:prstGeom>
          <a:solidFill>
            <a:srgbClr val="4A90D9">
              <a:alpha val="85000"/>
            </a:srgbClr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965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  배워볼래? (Teach Me)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0" y="2331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맞춤 1분 영상, 월간 성취 리포트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57400" y="2926080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FF8C42">
              <a:alpha val="85000"/>
            </a:srgbClr>
          </a:solidFill>
          <a:ln w="19050">
            <a:solidFill>
              <a:srgbClr val="FF8C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2971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  같이 할게 (Do It With Me)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40280" y="3337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공유 실시간 안내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3931920"/>
            <a:ext cx="7315200" cy="822960"/>
          </a:xfrm>
          <a:prstGeom prst="roundRect">
            <a:avLst>
              <a:gd name="adj" fmla="val 6667"/>
            </a:avLst>
          </a:prstGeom>
          <a:solidFill>
            <a:srgbClr val="27AE60">
              <a:alpha val="85000"/>
            </a:srgbClr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39776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  대신 해줄게 (Do It For Me)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43434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카톡/전화 한 마디면 즉시 해결  ← 대부분 여기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집사 — 사업계획서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설계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가족 연결 — 진짜 구매자는 자녀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55448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자녀 앱 (30~40대)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부모님 구독 선물 결제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"이번 주 엄마 3번 도움받으셨어요"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"엄마가 KTX 예매 혼자 하셨어요!" 성취 알림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보이스피싱 의심 시 즉시 알림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0" y="23774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선물 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알림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1463040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166360" y="1554480"/>
            <a:ext cx="1645920" cy="320040"/>
          </a:xfrm>
          <a:prstGeom prst="roundRect">
            <a:avLst>
              <a:gd name="adj" fmla="val 11429"/>
            </a:avLst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1554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부모님 카카오톡 (50~70대)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12080" y="201168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"집사야, 맥도날드 주문해줘"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AI가 즉시 처리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문자 사기야?"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즉시 판별 + 자녀에게 알림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526280"/>
            <a:ext cx="8229600" cy="228600"/>
          </a:xfrm>
          <a:prstGeom prst="roundRect">
            <a:avLst>
              <a:gd name="adj" fmla="val 32000"/>
            </a:avLst>
          </a:prstGeom>
          <a:solidFill>
            <a:srgbClr val="FFF3E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45262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"효도 마케팅" → 2040세대까지 고객 확장 + 바이럴 성장 엔진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집사 — 사업계획서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구조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+ 인간 하이브리드 상담 모델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EBF5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상담원 (1차 처리)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70~85%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주문 / 정보 안내 / 예약 / FAQ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24시간 / 365일 즉시 응답 (3초 이내)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기억 기능 (네이버 케어콜 벤치마크)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건당 420~700원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77640" y="21945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불가 / 불안 감지 시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자동 전환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FFF3E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 상담원 (2차 처리)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2376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8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15~30%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19202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금융/보안 관련 (규제)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정서적 지원 (불안한 고객)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공유 원격 지원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건당 1,000~1,500원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Klarna 교훈: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AI만으로 700명 대체 → 품질 저하 → 인간 재고용.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AI만으로는 부족, 인간 선택권이 반드시 필요.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집사 — 사업계획서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사례 분석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검증된 글로벌 벤치마크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640080"/>
                <a:gridCol w="2011680"/>
                <a:gridCol w="1280160"/>
                <a:gridCol w="30175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서비스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국가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규모/가격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우리가 배울 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Candoo Tech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미국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시니어 전용 1:1 기술 지원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월 $19~$99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8C42"/>
                          </a:solidFill>
                        </a:rPr>
                        <a:t>전화 먼저 + "컨시어지" 브랜딩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GrandPad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미국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시니어 태블릿 + 가족앱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월 $25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8C42"/>
                          </a:solidFill>
                        </a:rPr>
                        <a:t>폐쇄형 가족 네트워크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Papa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미국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"주문형 손주" 방문 돌봄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$257M 투자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8C42"/>
                          </a:solidFill>
                        </a:rPr>
                        <a:t>B2B2C 보험 모델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네이버 케어콜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한국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AI 안부 전화, 5만 명 대상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만족도 90%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8C42"/>
                          </a:solidFill>
                        </a:rPr>
                        <a:t>AI 기억 기능, 96% 응답률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카카오뱅크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한국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"간편홈" 시니어 UX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647만 명 50+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8C42"/>
                          </a:solidFill>
                        </a:rPr>
                        <a:t>"시니어 모드"라 안 부름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토스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한국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유니버설 디자인 접근성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시니어모드 폐기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8C42"/>
                          </a:solidFill>
                        </a:rPr>
                        <a:t>분리하지 않는 설계 철학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집사 — 사업계획서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 모델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수익 구조와 요금제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554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19,900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원/월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10회 대행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무제한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알림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23360" y="132588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F8C42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1325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인기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29000" y="1554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스탠다드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34,900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원/월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29000" y="23774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무제한 대행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공유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콘텐츠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41732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63640" y="1554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패밀리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49,900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원/월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63640" y="23774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부모 1인 무제한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가족앱 연동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상담원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확장 수익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977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복지 (인당 15,000원/월)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통신사 시니어 요금제 번들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복지관/지자체 위탁 운영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키오스크 업체 QR코드 연동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보험사/금융사 고객 혜택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효율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3977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1건: 420~700원  vs  인간 1건: 1,000~1,500원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처리율 70~85% → 비용 절감 핵심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공헌이익률: 라이트 64% / 패밀리 57%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집사 — 사업계획서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 시뮬레이션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3년 재무 전망 (보수적 시나리오)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371600"/>
                <a:gridCol w="1371600"/>
                <a:gridCol w="1371600"/>
                <a:gridCol w="19202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시점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구독자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월 매출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월 비용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월 이익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누적 이익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1개월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25만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26만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</a:rPr>
                        <a:t>-1만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4"/>
                          </a:solidFill>
                        </a:rPr>
                        <a:t>-1만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3개월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50명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125만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80만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+45만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4"/>
                          </a:solidFill>
                        </a:rPr>
                        <a:t>+80만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6개월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150명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375만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200만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+175만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4"/>
                          </a:solidFill>
                        </a:rPr>
                        <a:t>+700만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12개월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500명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1,250만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608만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+642만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4"/>
                          </a:solidFill>
                        </a:rPr>
                        <a:t>+5,500만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24개월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2,000명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5,000만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1,800만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+3,200만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4"/>
                          </a:solidFill>
                        </a:rPr>
                        <a:t>4.5억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36개월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5,000명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1.25억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2,975만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+9,525만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4"/>
                          </a:solidFill>
                        </a:rPr>
                        <a:t>15.9억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단위 경제학 (Unit Economics)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9776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" y="4114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15,000원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94360" y="4709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(획득 비용)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60320" y="39776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697480" y="4114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750,000원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2697480" y="4709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(생애 가치)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63440" y="39776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00600" y="4114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8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50:1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4800600" y="4709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비율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766560" y="39776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903720" y="4114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3%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6903720" y="4709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이탈률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로드맵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0 → Phase 5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280160" cy="3291840"/>
          </a:xfrm>
          <a:prstGeom prst="roundRect">
            <a:avLst>
              <a:gd name="adj" fmla="val 4286"/>
            </a:avLst>
          </a:prstGeom>
          <a:solidFill>
            <a:srgbClr val="8E99A4">
              <a:alpha val="20000"/>
            </a:srgbClr>
          </a:solidFill>
          <a:ln w="12700">
            <a:solidFill>
              <a:srgbClr val="8E99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63040"/>
            <a:ext cx="640080" cy="640080"/>
          </a:xfrm>
          <a:prstGeom prst="ellipse">
            <a:avLst/>
          </a:prstGeom>
          <a:solidFill>
            <a:srgbClr val="8E99A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1~2주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606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1097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채널 개설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080 전화 개통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시니어 10명 모집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83080" y="1371600"/>
            <a:ext cx="1280160" cy="3291840"/>
          </a:xfrm>
          <a:prstGeom prst="roundRect">
            <a:avLst>
              <a:gd name="adj" fmla="val 4286"/>
            </a:avLst>
          </a:prstGeom>
          <a:solidFill>
            <a:srgbClr val="4A90D9">
              <a:alpha val="2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1463040"/>
            <a:ext cx="640080" cy="6400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2880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23774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1~3개월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28800" y="2606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검증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74520" y="2926080"/>
            <a:ext cx="1097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본인 직접 운영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3만원 단일 플랜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가설 검증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1371600"/>
            <a:ext cx="1280160" cy="3291840"/>
          </a:xfrm>
          <a:prstGeom prst="roundRect">
            <a:avLst>
              <a:gd name="adj" fmla="val 4286"/>
            </a:avLst>
          </a:prstGeom>
          <a:solidFill>
            <a:srgbClr val="FF8C42">
              <a:alpha val="20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0440" y="1463040"/>
            <a:ext cx="640080" cy="64008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24612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46120" y="23774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4~6개월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46120" y="2606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도입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2926080"/>
            <a:ext cx="1097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연동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상담원 1~2명 채용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복지관 1~2곳 제휴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1371600"/>
            <a:ext cx="1280160" cy="3291840"/>
          </a:xfrm>
          <a:prstGeom prst="roundRect">
            <a:avLst>
              <a:gd name="adj" fmla="val 4286"/>
            </a:avLst>
          </a:prstGeom>
          <a:solidFill>
            <a:srgbClr val="27AE60">
              <a:alpha val="2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146304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66344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23774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7~12개월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63440" y="2606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가족앱 + 확장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09160" y="2926080"/>
            <a:ext cx="1097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가족 PWA 출시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음성 도입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1~3건 계약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35040" y="1371600"/>
            <a:ext cx="1280160" cy="3291840"/>
          </a:xfrm>
          <a:prstGeom prst="roundRect">
            <a:avLst>
              <a:gd name="adj" fmla="val 4286"/>
            </a:avLst>
          </a:prstGeom>
          <a:solidFill>
            <a:srgbClr val="9B59B6">
              <a:alpha val="2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1463040"/>
            <a:ext cx="640080" cy="64008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08076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80760" y="23774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13~24개월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080760" y="2606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전국 확장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26480" y="2926080"/>
            <a:ext cx="1097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전국 상담원 네트워크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통신사/보험사 제휴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5,000명 목표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452360" y="1371600"/>
            <a:ext cx="1280160" cy="3291840"/>
          </a:xfrm>
          <a:prstGeom prst="roundRect">
            <a:avLst>
              <a:gd name="adj" fmla="val 4286"/>
            </a:avLst>
          </a:prstGeom>
          <a:solidFill>
            <a:srgbClr val="E74C3C">
              <a:alpha val="2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72400" y="1463040"/>
            <a:ext cx="640080" cy="6400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2" name="Text 40"/>
          <p:cNvSpPr/>
          <p:nvPr/>
        </p:nvSpPr>
        <p:spPr>
          <a:xfrm>
            <a:off x="77724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749808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98080" y="23774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25~36개월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498080" y="2606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543800" y="2926080"/>
            <a:ext cx="1097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일본 시장 진출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동남아 확장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시리즈 투자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집사 — 사업계획서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리스크 분석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리스크와 대응 전략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5120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리스크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영향도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대응 방안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"사기 아냐?" 불신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8C42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복지관/지자체 파트너십, 무료 체험, 언론 보도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개인정보 유출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</a:rPr>
                        <a:t>매우높음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최소 수집, 직접 계정 접근 금지, 보안 인증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대기업 진입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중간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신뢰 관계 해자, 지역 커뮤니티 락인 선점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상담원 품질 편차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8C42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매뉴얼 표준화, AI 보조, 교육/평가 시스템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AI 기술 한계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중간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하이브리드 모델, 인간 백업 항상 유지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3E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킬 스위치 (사업 중단 기준)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6개월 후 유료 구독자 30명 미만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-20 이하  |  월 이탈률 20% 이상 지속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손실: 약 150만원 (6개월 × 26만원/월) → 리스크 대비 기회가 압도적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"기술 지원"을 파는 것이 아니라
</a:t>
            </a:r>
            <a:pPr indent="0" marL="0">
              <a:buNone/>
            </a:pPr>
            <a:r>
              <a:rPr lang="en-US" sz="2800" b="1" dirty="0">
                <a:solidFill>
                  <a:srgbClr val="FF8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"존엄성"을 파는 서비스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키오스크 앞에서 창피당하지 않을 권리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자녀에게 매번 부탁하지 않아도 되는 자립심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세상 변화에 뒤처지지 않는다는 안심감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보이스피싱에 당하지 않을 안전함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44/50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타당성 점수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2,300만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타겟 시장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100만원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4632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 비용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15.9억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94944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3년 누적 이익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디지털 집사 — 사업계획서</dc:title>
  <dc:subject>PptxGenJS Presentation</dc:subject>
  <dc:creator>디지털 집사</dc:creator>
  <cp:lastModifiedBy>디지털 집사</cp:lastModifiedBy>
  <cp:revision>1</cp:revision>
  <dcterms:created xsi:type="dcterms:W3CDTF">2026-03-26T01:50:18Z</dcterms:created>
  <dcterms:modified xsi:type="dcterms:W3CDTF">2026-03-26T01:50:18Z</dcterms:modified>
</cp:coreProperties>
</file>